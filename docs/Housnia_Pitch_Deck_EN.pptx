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e933c54-b2a1-2cbc-d720-51fa66861a03}">
          <p14:sldIdLst>
            <p14:sldId id="256"/>
            <p14:sldId id="257"/>
            <p14:sldId id="258"/>
          </p14:sldIdLst>
        </p14:section>
        <p14:section name="The app" id="{93c1ad0c-e8a7-ba45-00b8-a3285f065d0e}">
          <p14:sldIdLst>
            <p14:sldId id="259"/>
            <p14:sldId id="260"/>
            <p14:sldId id="261"/>
            <p14:sldId id="262"/>
          </p14:sldIdLst>
        </p14:section>
        <p14:section name="Technology" id="{fcda5a71-b377-9baf-73b8-a0b13e5938be}">
          <p14:sldIdLst>
            <p14:sldId id="263"/>
            <p14:sldId id="264"/>
            <p14:sldId id="265"/>
          </p14:sldIdLst>
        </p14:section>
        <p14:section name="Implementation" id="{5919abc8-538a-71b7-f724-14c4fd942ce8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5A6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5A63"/>
                </a:solidFill>
                <a:latin typeface="+mn-lt"/>
              </a:rPr>
              <a:t>In thousand euros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Thousand EUR</c:v>
                </c:pt>
              </c:strCache>
            </c:strRef>
          </c:tx>
          <c:spPr>
            <a:solidFill>
              <a:srgbClr val="E8457A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1E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Hosting</c:v>
                  </c:pt>
                  <c:pt idx="1">
                    <c:v>Field research</c:v>
                  </c:pt>
                  <c:pt idx="2">
                    <c:v>Contingency (10%)</c:v>
                  </c:pt>
                  <c:pt idx="3">
                    <c:v>Training and launch</c:v>
                  </c:pt>
                  <c:pt idx="4">
                    <c:v>Design</c:v>
                  </c:pt>
                  <c:pt idx="5">
                    <c:v>Content and translation</c:v>
                  </c:pt>
                  <c:pt idx="6">
                    <c:v>Audio and video</c:v>
                  </c:pt>
                  <c:pt idx="7">
                    <c:v>Development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6.1</c:v>
                </c:pt>
                <c:pt idx="1">
                  <c:v>12.2</c:v>
                </c:pt>
                <c:pt idx="2">
                  <c:v>15.9</c:v>
                </c:pt>
                <c:pt idx="3">
                  <c:v>15.2</c:v>
                </c:pt>
                <c:pt idx="4">
                  <c:v>15.2</c:v>
                </c:pt>
                <c:pt idx="5">
                  <c:v>18.3</c:v>
                </c:pt>
                <c:pt idx="6">
                  <c:v>38.1</c:v>
                </c:pt>
                <c:pt idx="7">
                  <c:v>53.4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200" u="none">
                  <a:solidFill>
                    <a:srgbClr val="5B1E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Housnia means beauty and goodness. The app supports women from puberty to the postpartum period, without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ousnia/logo/housnia_logo_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56032"/>
            <a:ext cx="960120" cy="39319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5B1E44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5B1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ousnia/logo/housnia_ic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429000" y="1234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Housnia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3429000" y="21945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periods, following pregnancy and caring for yourself after childbirth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3429000" y="3154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offline mobile app for women and girls in Chad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429000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 Housna Mahamat Ali  ·  housnia.tchad@gmail.com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In Chad, vital health information is missing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deaths per 100,000 live births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Chad, 2022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377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births attended by skilled health personnel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UNICEF, 2022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377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aged 15+ can read and write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World Factbook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taboos, early pregnancies, unrecognised danger signs and scarce mobile coverage: information must reach women in their own language, without internet.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Housnia: a midwife in your pocket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822960" cy="822960"/>
          </a:xfrm>
          <a:prstGeom prst="ellipse">
            <a:avLst/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7519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network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947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stays on the phone after installation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17720" y="123444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554480"/>
            <a:ext cx="822960" cy="822960"/>
          </a:xfrm>
          <a:prstGeom prst="ellipse">
            <a:avLst/>
          </a:prstGeom>
          <a:solidFill>
            <a:srgbClr val="5B1E44"/>
          </a:solidFill>
          <a:ln w="12700">
            <a:solidFill>
              <a:srgbClr val="5B1E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830" y="175199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1508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and Arabic text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1947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and video also in Chadian Arabic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246120"/>
            <a:ext cx="822960" cy="822960"/>
          </a:xfrm>
          <a:prstGeom prst="ellipse">
            <a:avLst/>
          </a:prstGeom>
          <a:solidFill>
            <a:srgbClr val="F28C6B"/>
          </a:solidFill>
          <a:ln w="12700">
            <a:solidFill>
              <a:srgbClr val="F28C6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34436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audio and video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6393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women who read and women who cannot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1772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3246120"/>
            <a:ext cx="822960" cy="822960"/>
          </a:xfrm>
          <a:prstGeom prst="ellipse">
            <a:avLst/>
          </a:prstGeom>
          <a:solidFill>
            <a:srgbClr val="4FB5A5"/>
          </a:solidFill>
          <a:ln w="12700">
            <a:solidFill>
              <a:srgbClr val="4FB5A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830" y="344363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5216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health workers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852160" y="36393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Chadian medical committee reviews all content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Who is it for?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463040"/>
            <a:ext cx="914400" cy="914400"/>
          </a:xfrm>
          <a:prstGeom prst="ellipse">
            <a:avLst/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6824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10–17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Puberty, first periods, hygiene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60320" y="1234440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63240" y="1463040"/>
            <a:ext cx="914400" cy="914400"/>
          </a:xfrm>
          <a:prstGeom prst="ellipse">
            <a:avLst/>
          </a:prstGeom>
          <a:solidFill>
            <a:srgbClr val="5B1E44"/>
          </a:solidFill>
          <a:ln w="12700">
            <a:solidFill>
              <a:srgbClr val="5B1E4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168249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women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18–35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Cycle, preparing for and following pregnancy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63440" y="1234440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66360" y="1463040"/>
            <a:ext cx="914400" cy="914400"/>
          </a:xfrm>
          <a:prstGeom prst="ellipse">
            <a:avLst/>
          </a:prstGeom>
          <a:solidFill>
            <a:srgbClr val="4FB5A5"/>
          </a:solidFill>
          <a:ln w="12700">
            <a:solidFill>
              <a:srgbClr val="4FB5A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68249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00600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mothers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0060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Recovery, breastfeeding, baby care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766560" y="1234440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269480" y="1463040"/>
            <a:ext cx="914400" cy="914400"/>
          </a:xfrm>
          <a:prstGeom prst="ellipse">
            <a:avLst/>
          </a:prstGeom>
          <a:solidFill>
            <a:srgbClr val="F28C6B"/>
          </a:solidFill>
          <a:ln w="12700">
            <a:solidFill>
              <a:srgbClr val="F28C6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1682496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03720" y="2560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workers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90372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awareness sessions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Four modules and an emergency button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5252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Periods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calendar, symptoms, discreet reminders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371600"/>
            <a:ext cx="640080" cy="640080"/>
          </a:xfrm>
          <a:prstGeom prst="ellipse">
            <a:avLst/>
          </a:prstGeom>
          <a:solidFill>
            <a:srgbClr val="F28C6B"/>
          </a:solidFill>
          <a:ln w="12700">
            <a:solidFill>
              <a:srgbClr val="F28C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619" y="15252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Pregnancy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follow-up, antenatal visit reminders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08960"/>
            <a:ext cx="640080" cy="640080"/>
          </a:xfrm>
          <a:prstGeom prst="ellipse">
            <a:avLst/>
          </a:prstGeom>
          <a:solidFill>
            <a:srgbClr val="4FB5A5"/>
          </a:solidFill>
          <a:ln w="12700">
            <a:solidFill>
              <a:srgbClr val="4FB5A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26257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Baby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days after birth, breastfeeding, vaccines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429000" y="3108960"/>
            <a:ext cx="640080" cy="640080"/>
          </a:xfrm>
          <a:prstGeom prst="ellipse">
            <a:avLst/>
          </a:prstGeom>
          <a:solidFill>
            <a:srgbClr val="5B1E44"/>
          </a:solidFill>
          <a:ln w="12700">
            <a:solidFill>
              <a:srgbClr val="5B1E4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619" y="326257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16052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342900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Videos, guides, quizzes, myths and facts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172200" y="11887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949440" y="1417320"/>
            <a:ext cx="960120" cy="960120"/>
          </a:xfrm>
          <a:prstGeom prst="ellipse">
            <a:avLst/>
          </a:prstGeom>
          <a:solidFill>
            <a:srgbClr val="A11F1F"/>
          </a:solidFill>
          <a:ln w="12700">
            <a:solidFill>
              <a:srgbClr val="A11F1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869" y="1647749"/>
            <a:ext cx="499262" cy="49926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35508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635508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visible: illustrated danger signs, number to call, "go to the health centre"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Written in 2 languages, spoken in 3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91640"/>
                <a:gridCol w="1691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5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Texts (guides, screens)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5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and video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5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B1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F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F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B1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F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F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B1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Chadian Arabic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5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FB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97880" y="1234440"/>
            <a:ext cx="2788920" cy="2267712"/>
          </a:xfrm>
          <a:prstGeom prst="roundRect">
            <a:avLst>
              <a:gd name="adj" fmla="val 4839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26480" y="1417320"/>
            <a:ext cx="640080" cy="640080"/>
          </a:xfrm>
          <a:prstGeom prst="ellipse">
            <a:avLst/>
          </a:prstGeom>
          <a:solidFill>
            <a:srgbClr val="5B1E44"/>
          </a:solidFill>
          <a:ln w="12700">
            <a:solidFill>
              <a:srgbClr val="5B1E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99" y="157093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Chadian Arabic only as audio?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126480" y="2651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mainly spoken, rarely written: voice also reaches women who cannot read.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first launch, the user chooses her text language, then her audio and video language.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Short, medically validated content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guides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and Arabic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AD4E0"/>
          </a:solidFill>
          <a:ln w="12700">
            <a:solidFill>
              <a:srgbClr val="FAD4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108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of 2–4 min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French, Arabic, Chadian Arabic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Puberty and periods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179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body is changing · First period · Hygiene · Pain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2951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Antenatal visits · Eating well · Malaria · Danger signs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childbirth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0723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· Breastfeeding · Vaccines · Birth spacing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520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and protection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8496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body belongs to me · Early marriage · Where to find help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4343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item: written by a midwife, validated by the medical committee, reviewed by community leaders.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Offline first, progressive updates</a:t>
            </a:r>
            <a:endParaRPr lang="en-US" sz="2800" dirty="0"/>
          </a:p>
        </p:txBody>
      </p:sp>
      <p:pic>
        <p:nvPicPr>
          <p:cNvPr id="3" name="Image 0" descr="/home/claude/housnia/en/architecture_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306324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31920" y="1188720"/>
            <a:ext cx="457200" cy="457200"/>
          </a:xfrm>
          <a:prstGeom prst="ellipse">
            <a:avLst/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9319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split into packs by topic and language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931920" y="1874520"/>
            <a:ext cx="457200" cy="457200"/>
          </a:xfrm>
          <a:prstGeom prst="ellipse">
            <a:avLst/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network is available, the app checks for updates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931920" y="2560320"/>
            <a:ext cx="457200" cy="457200"/>
          </a:xfrm>
          <a:prstGeom prst="ellipse">
            <a:avLst/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319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content is downloaded, with resume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931920" y="3246120"/>
            <a:ext cx="457200" cy="457200"/>
          </a:xfrm>
          <a:prstGeom prst="ellipse">
            <a:avLst/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319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once the pack is complete and verified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931920" y="3931920"/>
            <a:ext cx="457200" cy="457200"/>
          </a:xfrm>
          <a:prstGeom prst="ellipse">
            <a:avLst/>
          </a:prstGeom>
          <a:solidFill>
            <a:srgbClr val="4FB5A5"/>
          </a:solidFill>
          <a:ln w="12700">
            <a:solidFill>
              <a:srgbClr val="4FB5A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319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shared by Bluetooth, SD card or "Housnia Points"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93192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 ≈ 40 MB · video packs of 50 to 100 MB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Simple, robust and private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234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Flutter, Android 6+ (1–2 GB RAM phones), iOS later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057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local database, audio and video on the phone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880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notifications, no server needed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03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703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reusable by partners and other countries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1234440"/>
            <a:ext cx="3200400" cy="3246120"/>
          </a:xfrm>
          <a:prstGeom prst="roundRect">
            <a:avLst>
              <a:gd name="adj" fmla="val 3429"/>
            </a:avLst>
          </a:prstGeom>
          <a:solidFill>
            <a:srgbClr val="5B1E44"/>
          </a:solidFill>
          <a:ln w="12700">
            <a:solidFill>
              <a:srgbClr val="5B1E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417320"/>
            <a:ext cx="685800" cy="685800"/>
          </a:xfrm>
          <a:prstGeom prst="ellipse">
            <a:avLst/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581912"/>
            <a:ext cx="356616" cy="35661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3796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2860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name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stays on the phone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code and neutral icon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"Erase my data" button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Visual identity</a:t>
            </a:r>
            <a:endParaRPr lang="en-US" sz="2800" dirty="0"/>
          </a:p>
        </p:txBody>
      </p:sp>
      <p:pic>
        <p:nvPicPr>
          <p:cNvPr id="3" name="Image 0" descr="/home/claude/housnia/logo/housnia_logo_vertic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88720"/>
            <a:ext cx="2240280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69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Crescent: veil and protection · Drop: body and cycle · Small drop: growing life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520440" y="123444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E8457A"/>
          </a:solidFill>
          <a:ln w="12700">
            <a:solidFill>
              <a:srgbClr val="E6D5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520440" y="2148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Housnia Pink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520440" y="2423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#E8457A · Primary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846320" y="123444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FAD4E0"/>
          </a:solidFill>
          <a:ln w="12700">
            <a:solidFill>
              <a:srgbClr val="E6D5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2148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 Pink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2423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#FAD4E0 · Backgrounds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72200" y="123444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5B1E44"/>
          </a:solidFill>
          <a:ln w="12700">
            <a:solidFill>
              <a:srgbClr val="E6D5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2200" y="2148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2423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#5B1E44 · Text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98080" y="123444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F4E3C1"/>
          </a:solidFill>
          <a:ln w="12700">
            <a:solidFill>
              <a:srgbClr val="E6D5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0" y="2148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Sand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2423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#F4E3C1 · App background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20440" y="3017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F28C6B"/>
          </a:solidFill>
          <a:ln w="12700">
            <a:solidFill>
              <a:srgbClr val="E6D5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20440" y="3931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520440" y="4206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#F28C6B · Pregnancy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46320" y="3017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4FB5A5"/>
          </a:solidFill>
          <a:ln w="12700">
            <a:solidFill>
              <a:srgbClr val="E6D5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3931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4206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#4FB5A5 · After Baby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72200" y="30175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C62828"/>
          </a:solidFill>
          <a:ln w="12700">
            <a:solidFill>
              <a:srgbClr val="E6D5D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72200" y="3931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Red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172200" y="4206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#C62828 · Danger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Launch in 9 months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2651760" y="1097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097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097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097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097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097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097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097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1097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463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research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88336" y="1499616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5B1E44"/>
          </a:solidFill>
          <a:ln w="12700">
            <a:solidFill>
              <a:srgbClr val="5B1E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965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28416" y="2002536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28C6B"/>
          </a:solidFill>
          <a:ln w="12700">
            <a:solidFill>
              <a:srgbClr val="F28C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468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28416" y="2505456"/>
            <a:ext cx="3767328" cy="310896"/>
          </a:xfrm>
          <a:prstGeom prst="roundRect">
            <a:avLst>
              <a:gd name="adj" fmla="val 23529"/>
            </a:avLst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971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68496" y="3008376"/>
            <a:ext cx="3127248" cy="310896"/>
          </a:xfrm>
          <a:prstGeom prst="roundRect">
            <a:avLst>
              <a:gd name="adj" fmla="val 23529"/>
            </a:avLst>
          </a:prstGeom>
          <a:solidFill>
            <a:srgbClr val="4FB5A5"/>
          </a:solidFill>
          <a:ln w="12700">
            <a:solidFill>
              <a:srgbClr val="4FB5A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474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(300 women)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68896" y="351129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5B1E44"/>
          </a:solidFill>
          <a:ln w="12700">
            <a:solidFill>
              <a:srgbClr val="5B1E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977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08976" y="401421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new content packs every 2 to 3 months, iOS version and new languages.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Year-1 budget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4864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72200" y="137160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5B1E44"/>
          </a:solidFill>
          <a:ln w="12700">
            <a:solidFill>
              <a:srgbClr val="5B1E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600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20116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€174k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743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114.4 M FCFA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A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ask: ≈ US$100k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(prototype + pilot) fits a seed grant; estimates to refine with local quotes.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2-year targets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installations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AD4E0"/>
          </a:solidFill>
          <a:ln w="12700">
            <a:solidFill>
              <a:srgbClr val="FAD4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 girls completing "My Periods"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pregnant women with visit reminders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AD4E0"/>
          </a:solidFill>
          <a:ln w="12700">
            <a:solidFill>
              <a:srgbClr val="FAD4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pts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score before / after a module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name 3 danger signs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AD4E0"/>
          </a:solidFill>
          <a:ln w="12700">
            <a:solidFill>
              <a:srgbClr val="FAD4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workers trained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Built in Chad, designed to scale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1–2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Chadian Arabic, then Sara and Kanembu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371600"/>
            <a:ext cx="548640" cy="548640"/>
          </a:xfrm>
          <a:prstGeom prst="ellipse">
            <a:avLst/>
          </a:prstGeom>
          <a:solidFill>
            <a:srgbClr val="F28C6B"/>
          </a:solidFill>
          <a:ln w="12700">
            <a:solidFill>
              <a:srgbClr val="F28C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2–4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and Central Africa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Niger, Mali, Burkina Faso, Cameroon, CAR, Sudan, Mauritania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DF2F6"/>
          </a:solidFill>
          <a:ln w="12700">
            <a:solidFill>
              <a:srgbClr val="FDF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4FB5A5"/>
          </a:solidFill>
          <a:ln w="12700">
            <a:solidFill>
              <a:srgbClr val="4FB5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5+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and beyond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Africa, South Asia, other low-resource settings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640080" cy="640080"/>
          </a:xfrm>
          <a:prstGeom prst="ellipse">
            <a:avLst/>
          </a:prstGeom>
          <a:solidFill>
            <a:srgbClr val="5B1E44"/>
          </a:solidFill>
          <a:ln w="12700">
            <a:solidFill>
              <a:srgbClr val="5B1E44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039819"/>
            <a:ext cx="332842" cy="3328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38404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country means adding language and country packs, not rebuilding the app. Few apps work offline, speak local languages and serve women who cannot read.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B1E44"/>
                </a:solidFill>
              </a:rPr>
              <a:t>The founder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FAD4E0"/>
          </a:solidFill>
          <a:ln w="12700">
            <a:solidFill>
              <a:srgbClr val="FAD4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463040"/>
            <a:ext cx="1097280" cy="1097280"/>
          </a:xfrm>
          <a:prstGeom prst="ellipse">
            <a:avLst/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387" y="172638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Housna Mahamat Ali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and project lead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housnia.tchad@gmail.com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midwife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1691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Second-year student in Obstetric Care (Midwifery), Faculty of Human Health Sciences, University of N'Djamena, Chad.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2560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1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Housnia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931920" y="30175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her training she sees how many women and girls lack basic information on periods, pregnancy and postpartum care, and how often danger signs are recognised too late. Housnia is a tool designed in Chad, for Chadian women, by a future health professional.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Housnia together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we are seeking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Public Health, Chad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UNFPA, UNICEF, WHO Chad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and women's associations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makers and femtech funds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operators (Airtel, Moov Africa)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Housna Mahamat Ali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194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Housnia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606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midwife (Obstetric Care, Year 2), Faculty of Human Health Sciences, University of N'Djamena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3520440"/>
            <a:ext cx="411480" cy="411480"/>
          </a:xfrm>
          <a:prstGeom prst="ellipse">
            <a:avLst/>
          </a:prstGeom>
          <a:solidFill>
            <a:srgbClr val="E8457A"/>
          </a:solidFill>
          <a:ln w="12700">
            <a:solidFill>
              <a:srgbClr val="E8457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3635" y="3619195"/>
            <a:ext cx="213970" cy="21397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303520" y="3520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housnia.tchad@gmail.com</a:t>
            </a:r>
            <a:endParaRPr lang="en-US" sz="1600" dirty="0"/>
          </a:p>
        </p:txBody>
      </p:sp>
      <p:pic>
        <p:nvPicPr>
          <p:cNvPr id="12" name="Image 1" descr="/home/claude/housnia/logo/housnia_ic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34340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ousnia">
  <a:themeElements>
    <a:clrScheme name="Housnia">
      <a:dk1>
        <a:srgbClr val="2B2B2B"/>
      </a:dk1>
      <a:lt1>
        <a:srgbClr val="FFFFFF"/>
      </a:lt1>
      <a:dk2>
        <a:srgbClr val="5B1E44"/>
      </a:dk2>
      <a:lt2>
        <a:srgbClr val="FDF2F6"/>
      </a:lt2>
      <a:accent1>
        <a:srgbClr val="E8457A"/>
      </a:accent1>
      <a:accent2>
        <a:srgbClr val="5B1E44"/>
      </a:accent2>
      <a:accent3>
        <a:srgbClr val="F28C6B"/>
      </a:accent3>
      <a:accent4>
        <a:srgbClr val="4FB5A5"/>
      </a:accent4>
      <a:accent5>
        <a:srgbClr val="F4E3C1"/>
      </a:accent5>
      <a:accent6>
        <a:srgbClr val="C62828"/>
      </a:accent6>
      <a:hlink>
        <a:srgbClr val="E8457A"/>
      </a:hlink>
      <a:folHlink>
        <a:srgbClr val="5B1E44"/>
      </a:folHlink>
    </a:clrScheme>
    <a:fontScheme name="Housn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Housnia – Project Pitch</dc:title>
  <dc:subject>PptxGenJS Presentation</dc:subject>
  <dc:creator>Housnia</dc:creator>
  <cp:lastModifiedBy>Housnia</cp:lastModifiedBy>
  <cp:revision>1</cp:revision>
  <dcterms:created xsi:type="dcterms:W3CDTF">2026-10-29T12:22:23Z</dcterms:created>
  <dcterms:modified xsi:type="dcterms:W3CDTF">2026-10-29T12:22:23Z</dcterms:modified>
</cp:coreProperties>
</file>